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7545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basis and data interpretation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drawn from the component reference, case-data sheet, and calculation template.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11155680" cy="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5074920" cy="2432304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basis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Specified 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 configuration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condenser; kettle reboiler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pressure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 bar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 rate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24,000 kg/h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 mass fractions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CH4 = 0.62; C2H4 = 0.38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 thermal condition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Subcooled; q = 1.2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Relative volatility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alpha(CH4/C2H4) = 1.85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234440"/>
          <a:ext cx="5440680" cy="1965960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basis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 vapor ratio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CH4 : C2H4 = 18.0 : 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Distillate mole fractions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xD,CH4 = 0.9474; xD,C2H4 = 0.0526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Bottoms mole fractions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xB,CH4 = 0.0100; xB,C2H4 = 0.9900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assignment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LK = methane; HK = ethene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7165489" y="4087369"/>
            <a:ext cx="5303520" cy="292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 used in the validation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6080760" y="4416552"/>
            <a:ext cx="5303520" cy="685800"/>
          </a:xfrm>
          <a:prstGeom prst="rect">
            <a:avLst/>
          </a:prstGeom>
          <a:solidFill>
            <a:srgbClr val="EAF3F8"/>
          </a:solidFill>
          <a:ln w="12700">
            <a:solidFill>
              <a:srgbClr val="D9EAF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vapor-line GC ratio is normalized directly as the distillate composition. The shortcut stage estimate counts the kettle reboiler as an equilibrium stage and excludes the total condenser.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229600" y="6446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CH4 / C2H4 splitter shortcut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Shortcut calculation approach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linked calculations convert the supplied basis into the reflux and stage estimates.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11155680" cy="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08614" y="2788920"/>
            <a:ext cx="493122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241720" y="2788920"/>
            <a:ext cx="484959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658368" y="1572768"/>
            <a:ext cx="2880360" cy="2331720"/>
          </a:xfrm>
          <a:prstGeom prst="rect">
            <a:avLst/>
          </a:prstGeom>
          <a:solidFill>
            <a:srgbClr val="F7FBFE"/>
          </a:solidFill>
          <a:ln w="13970">
            <a:solidFill>
              <a:srgbClr val="2E75B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Fenske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stages at total reflux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Uses light-key/heavy-key product split and constant alpha to compute Nmin.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47457" y="1572768"/>
            <a:ext cx="3226527" cy="2331720"/>
          </a:xfrm>
          <a:prstGeom prst="rect">
            <a:avLst/>
          </a:prstGeom>
          <a:solidFill>
            <a:srgbClr val="F7FBFE"/>
          </a:solidFill>
          <a:ln w="13970">
            <a:solidFill>
              <a:srgbClr val="1F4E7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reflux from q-line root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Solves the root between alpha_HK = 1.000 and alpha_LK = 1.85, then computes Rmin.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36992" y="1572768"/>
            <a:ext cx="3030582" cy="2331720"/>
          </a:xfrm>
          <a:prstGeom prst="rect">
            <a:avLst/>
          </a:prstGeom>
          <a:solidFill>
            <a:srgbClr val="F7FBFE"/>
          </a:solidFill>
          <a:ln w="13970">
            <a:solidFill>
              <a:srgbClr val="54823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48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Gilliland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stage estimate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R = 1.25 x Rmin and the Eduljee explicit form for the continuous N estimate.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72235" y="4599072"/>
            <a:ext cx="2560320" cy="2560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discipline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914400" y="4910328"/>
            <a:ext cx="4297680" cy="502920"/>
          </a:xfrm>
          <a:prstGeom prst="rect">
            <a:avLst/>
          </a:prstGeom>
          <a:solidFill>
            <a:srgbClr val="EAF3F8"/>
          </a:solidFill>
          <a:ln w="12700">
            <a:solidFill>
              <a:srgbClr val="D9EAF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Full-precision theta and Rmin are used for Underwood back-substitution before final values are rounded.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824012" y="4654296"/>
            <a:ext cx="2560320" cy="2560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basis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6000" y="4910328"/>
            <a:ext cx="4602480" cy="502920"/>
          </a:xfrm>
          <a:prstGeom prst="rect">
            <a:avLst/>
          </a:prstGeom>
          <a:solidFill>
            <a:srgbClr val="EAF3F8"/>
          </a:solidFill>
          <a:ln w="12700">
            <a:solidFill>
              <a:srgbClr val="D9EAF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Theta, Rmin, R, mole fractions, D/F, and B/F are shown to four decimals; Nmin and N are shown to two decimals.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0" y="6446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CH4 / C2H4 splitter shortcut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shortcut results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operating case uses R = 1.25 x Rmin and returns a continuous theoretical stage estimate.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11155680" cy="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2423160" cy="1417320"/>
          </a:xfrm>
          <a:prstGeom prst="rect">
            <a:avLst/>
          </a:prstGeom>
          <a:solidFill>
            <a:srgbClr val="F7FBFE"/>
          </a:solidFill>
          <a:ln w="13970">
            <a:solidFill>
              <a:srgbClr val="1F4E7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1.1243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Underwood root theta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root: 1 &lt; theta &lt; 1.85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11880" y="1325880"/>
            <a:ext cx="2423160" cy="1417320"/>
          </a:xfrm>
          <a:prstGeom prst="rect">
            <a:avLst/>
          </a:prstGeom>
          <a:solidFill>
            <a:srgbClr val="F7FBFE"/>
          </a:solidFill>
          <a:ln w="13970">
            <a:solidFill>
              <a:srgbClr val="2E75B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0.9918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reflux ratio Rmin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Rmin + 1 = 1.9918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0" y="1325880"/>
            <a:ext cx="2423160" cy="1417320"/>
          </a:xfrm>
          <a:prstGeom prst="rect">
            <a:avLst/>
          </a:prstGeom>
          <a:solidFill>
            <a:srgbClr val="F7FBFE"/>
          </a:solidFill>
          <a:ln w="13970">
            <a:solidFill>
              <a:srgbClr val="54823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48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1.2397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reflux ratio R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 x Rmin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72600" y="1325880"/>
            <a:ext cx="2103120" cy="1417320"/>
          </a:xfrm>
          <a:prstGeom prst="rect">
            <a:avLst/>
          </a:prstGeom>
          <a:solidFill>
            <a:srgbClr val="F7FBFE"/>
          </a:solidFill>
          <a:ln w="13970">
            <a:solidFill>
              <a:srgbClr val="C55A1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27.29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Gilliland / Eduljee N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theoretical stages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3246120"/>
          <a:ext cx="9966960" cy="19202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 item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stages, Nmin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Includes kettle reboiler; excludes total condenser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stage estimate, 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Eduljee/Gilliland at R = 1.2397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D/F, molar 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From CH4 component balance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B/F, molar 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0.2207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1 - D/F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229600" y="6446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CH4 / C2H4 splitter shortcut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Molar-balance closure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normalized product compositions close the overall and component balances on a molar basis.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11155680" cy="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2834640" cy="1508760"/>
          </a:xfrm>
          <a:prstGeom prst="rect">
            <a:avLst/>
          </a:prstGeom>
          <a:solidFill>
            <a:srgbClr val="F7FBFE"/>
          </a:solidFill>
          <a:ln w="13970">
            <a:solidFill>
              <a:srgbClr val="2E75B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0.7793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Distillate fraction D/F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Molar product split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49040" y="1325880"/>
            <a:ext cx="2834640" cy="1508760"/>
          </a:xfrm>
          <a:prstGeom prst="rect">
            <a:avLst/>
          </a:prstGeom>
          <a:solidFill>
            <a:srgbClr val="F7FBFE"/>
          </a:solidFill>
          <a:ln w="13970">
            <a:solidFill>
              <a:srgbClr val="54823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48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0.2207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Bottoms fraction B/F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Molar product split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12280" y="1325880"/>
            <a:ext cx="2834640" cy="1508760"/>
          </a:xfrm>
          <a:prstGeom prst="rect">
            <a:avLst/>
          </a:prstGeom>
          <a:solidFill>
            <a:srgbClr val="F7FBFE"/>
          </a:solidFill>
          <a:ln w="13970">
            <a:solidFill>
              <a:srgbClr val="1F4E79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1.0000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closure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D/F + B/F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0287000" cy="1316736"/>
        </p:xfrm>
        <a:graphic>
          <a:graphicData uri="http://schemas.openxmlformats.org/drawingml/2006/table">
            <a:tbl>
              <a:tblPr/>
              <a:tblGrid>
                <a:gridCol w="521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6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check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Calculated 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Feed 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CH4: (D/F)xD,CH4 + (B/F)xB,CH4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zCH4 = 0.7405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C2H4: (D/F)xD,C2H4 + (B/F)xB,C2H4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zC2H4 = 0.2595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14400" y="5166360"/>
            <a:ext cx="10149840" cy="502920"/>
          </a:xfrm>
          <a:prstGeom prst="rect">
            <a:avLst/>
          </a:prstGeom>
          <a:solidFill>
            <a:srgbClr val="EAF3F8"/>
          </a:solidFill>
          <a:ln w="12700">
            <a:solidFill>
              <a:srgbClr val="D9EAF7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implication: the GC-derived distillate composition and specified bottoms composition produce a consistent product split for the shortcut validation.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0" y="6446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CH4 / C2H4 splitter shortcut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implications and limitations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75488" y="68580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shortcut results as a traceable validation package, not as a substitute for detailed design.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987552"/>
            <a:ext cx="11155680" cy="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154680" cy="1508760"/>
          </a:xfrm>
          <a:prstGeom prst="rect">
            <a:avLst/>
          </a:prstGeom>
          <a:solidFill>
            <a:srgbClr val="F7FBFE"/>
          </a:solidFill>
          <a:ln w="13970">
            <a:solidFill>
              <a:srgbClr val="C55A1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5A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27.29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stage estimate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equilibrium stages at R = 1.2397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60520" y="1325880"/>
            <a:ext cx="3154680" cy="1508760"/>
          </a:xfrm>
          <a:prstGeom prst="rect">
            <a:avLst/>
          </a:prstGeom>
          <a:solidFill>
            <a:srgbClr val="F7FBFE"/>
          </a:solidFill>
          <a:ln w="13970">
            <a:solidFill>
              <a:srgbClr val="2E75B6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12.17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basis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Nmin at total reflux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35240" y="1325880"/>
            <a:ext cx="3154680" cy="1508760"/>
          </a:xfrm>
          <a:prstGeom prst="rect">
            <a:avLst/>
          </a:prstGeom>
          <a:solidFill>
            <a:srgbClr val="F7FBFE"/>
          </a:solidFill>
          <a:ln w="13970">
            <a:solidFill>
              <a:srgbClr val="548235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48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 x Rmin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Reflux basis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606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Specified operating trade-off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246120"/>
          <a:ext cx="10287000" cy="1901952"/>
        </p:xfrm>
        <a:graphic>
          <a:graphicData uri="http://schemas.openxmlformats.org/drawingml/2006/table">
            <a:tbl>
              <a:tblPr/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 takeaway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Shortcut package is internally consistent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Fenske, Underwood, Eduljee, and molar balances produce one coherent calculation basis.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overstate original design acceptance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starter data do not provide the actual tray count, efficiency, hydraulics, or pressure profile.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important sensitivities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1F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Constant relative volatility, q = 1.2, and the vapor-GC interpretation should be checked before final design lock.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0" y="6446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CH4 / C2H4 splitter shortcut validation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673</Words>
  <Application>Microsoft Office PowerPoint</Application>
  <PresentationFormat>Widescreen</PresentationFormat>
  <Paragraphs>135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2026-09-14T09:14:41Z</dcterms:created>
  <dcterms:modified xsi:type="dcterms:W3CDTF">2026-09-14T09:14:46Z</dcterms:modified>
</cp:coreProperties>
</file>